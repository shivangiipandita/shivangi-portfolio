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10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0"/>
            <a:ext cx="3200400" cy="256032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</a:rPr>
              <a:t>PRODUCT TEARDOWN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Physics Wallah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22622" y="1519812"/>
            <a:ext cx="5189795" cy="1817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</a:rPr>
              <a:t>How PW can own the EdTech AI race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</a:rPr>
              <a:t>by fixing what users actually hate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389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Shivangi Pandita  |  Product Manager  | 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502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10M+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App Downloads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IPO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Bound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91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What is PW trying to solve?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206240" cy="100584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1091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Market &amp; User Research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EdTech India context + personas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Pain Points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What's broken in the app today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4206240" cy="100584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1091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Competitive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PW vs Unacademy vs Testbook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Solutions &amp; Prioritization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 ideas + RICE scoring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00584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1091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North Star Metric &amp; OKRs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How we measure success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Physics Wallah has 10M+ downloads and is the fastest-growing EdTech platform in India — yet new users drop off within the first session.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11480" cy="4114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PW lands users directly on paid batch pages before they experience any product value, causing early abandonment.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411480" cy="4114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PW has an AI assistant (a key differentiator vs competitors) but it responds without using the user's study context, delivering irrelevant answers.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411480" cy="4114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Basic profile features like gender selection are missing, and the home screen is too overwhelming for a first-time user to navigate.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GOAL:  Fix D1 retention by improving onboarding, reducing overwhelm, and making PW's AI assistant context-aware  so users see value before they see a paywall.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THE ARENA: INDIA'S EDTECH MARKET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1945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$7.5B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Total EdTech Market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Size in India (2025)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1005840"/>
            <a:ext cx="1920240" cy="2194560"/>
          </a:xfrm>
          <a:prstGeom prst="rect">
            <a:avLst/>
          </a:prstGeom>
          <a:solidFill>
            <a:srgbClr val="19376D"/>
          </a:solidFill>
          <a:ln w="12700">
            <a:solidFill>
              <a:srgbClr val="0B24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50592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450M+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50592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Students in India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(K-12 + Higher 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1920240" cy="21945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26864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60%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EdTech users from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Tier 2 &amp; 3 cities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1005840"/>
            <a:ext cx="1920240" cy="2194560"/>
          </a:xfrm>
          <a:prstGeom prst="rect">
            <a:avLst/>
          </a:prstGeom>
          <a:solidFill>
            <a:srgbClr val="19376D"/>
          </a:solidFill>
          <a:ln w="12700">
            <a:solidFill>
              <a:srgbClr val="0B24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03136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2.8x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03136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Growth in online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exam prep (2022–25)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FFFBE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PW's core user — an affordable exam aspirant from Tier 2/3 India, is mobile-first, budget-sensitive, and overwhelmed by choice. They don't need more content. They need structure, guidance, and confidence. PW has the reach. The gap is in the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USER PERSONAS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88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78892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Jatin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17, Delhi (Tier 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JEE Main + Advanced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2626"/>
                </a:solidFill>
              </a:rPr>
              <a:t>FRUSTRATION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Studying for boards AND JEE simultaneously. Time is his scarcest resource.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971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6A34A"/>
                </a:solidFill>
              </a:rPr>
              <a:t>MOTIVATION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200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Parents are paying - needs to show results fast.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260604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"I have 4 hours a day. I can't waste even 10 mins figuring out where to start."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960120"/>
            <a:ext cx="2788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72968" y="960120"/>
            <a:ext cx="2788920" cy="502920"/>
          </a:xfrm>
          <a:prstGeom prst="rect">
            <a:avLst/>
          </a:prstGeom>
          <a:solidFill>
            <a:srgbClr val="0C6478"/>
          </a:solidFill>
          <a:ln w="12700">
            <a:solidFill>
              <a:srgbClr val="0C64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10128" y="1005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Surbhi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0128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6478"/>
                </a:solidFill>
              </a:rPr>
              <a:t>20, Pune (Tier 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NEET (2nd attempt)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148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2626"/>
                </a:solidFill>
              </a:rPr>
              <a:t>FRUSTRATION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Already failed once. Obsessively compares every resource but can't commit.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971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6A34A"/>
                </a:solidFill>
              </a:rPr>
              <a:t>MOTIVATION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3200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Wants reassurance that THIS course will be different.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3749040"/>
            <a:ext cx="260604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55848" y="3794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"I've tried 3 apps. They all feel the same. I just want someone to guide me."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960120"/>
            <a:ext cx="2788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63056" y="960120"/>
            <a:ext cx="2788920" cy="5029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00216" y="1005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0216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60A"/>
                </a:solidFill>
              </a:rPr>
              <a:t>25, Ahmedabad (Tier 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0216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UPSC Civil Services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0216" y="2148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2626"/>
                </a:solidFill>
              </a:rPr>
              <a:t>FRUSTRATION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0216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Working full-time + preparing. Has too many resources, no structure.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0216" y="2971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6A34A"/>
                </a:solidFill>
              </a:rPr>
              <a:t>MOTIVATION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0216" y="3200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Needs a sequenced, time-bound study plan- not more videos.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54496" y="3749040"/>
            <a:ext cx="260604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45936" y="3794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"I have 2 hours every morning. Tell me exactly what to do in those 2 hours."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USER PAIN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0972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Wrong First Screen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After login, users land directly on paid batches. They haven't seen any product value yet. This is aggressive monetization before trust is built.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👤 Hits Jatin &amp; Ria hardest, they open the app to study, not to buy.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6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109728" cy="17830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0A"/>
                </a:solidFill>
              </a:rPr>
              <a:t>Overwhelming Home Screen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Too many tabs, sections, banners, and options on a single screen. Users don't know where to start. No guided path exists.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👤 Hits all three personas especially Surbhi who is already confused.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9376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2971800"/>
            <a:ext cx="109728" cy="178308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376D"/>
                </a:solidFill>
              </a:rPr>
              <a:t>Context-Blind AI Assistant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User personalizes for UPSC. Asks a NEET question. AI answers without acknowledging the mismatch. No context-switch flow exists.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👤 Hits Surbhi and Ria, they use the AI assistant for guidance most.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4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109728" cy="1783080"/>
          </a:xfrm>
          <a:prstGeom prst="rect">
            <a:avLst/>
          </a:prstGeom>
          <a:solidFill>
            <a:srgbClr val="0C6478"/>
          </a:solidFill>
          <a:ln w="12700">
            <a:solidFill>
              <a:srgbClr val="0C64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3081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6478"/>
                </a:solidFill>
              </a:rPr>
              <a:t>No Profile Customization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Default profile icon is male with no option to change gender or edit profile preferences after onboarding. Basic representation gap.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251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👤 Hits female users directly. PW's NEET base is 50%+ female.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COMPETITIVE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" y="960120"/>
            <a:ext cx="2194560" cy="384048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4592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960120"/>
            <a:ext cx="2194560" cy="384048"/>
          </a:xfrm>
          <a:prstGeom prst="rect">
            <a:avLst/>
          </a:prstGeom>
          <a:solidFill>
            <a:schemeClr val="tx1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000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2404872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Physics Wallah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2194560" cy="384048"/>
          </a:xfrm>
          <a:prstGeom prst="rect">
            <a:avLst/>
          </a:prstGeom>
          <a:solidFill>
            <a:srgbClr val="0070C0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45152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Unacademy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960120"/>
            <a:ext cx="2194560" cy="384048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85432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Testbook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" y="13716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4592" y="1371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Onboarding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1371600"/>
            <a:ext cx="2194560" cy="438912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2404872" y="1371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Clean OTP + personalization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45152" y="1371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Broken, accepts fake email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3716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85432" y="1371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Clean OTP + exam selection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" y="18288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459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First Screen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31720" y="1828800"/>
            <a:ext cx="2194560" cy="438912"/>
          </a:xfrm>
          <a:prstGeom prst="rect">
            <a:avLst/>
          </a:prstGeom>
          <a:solidFill>
            <a:srgbClr val="FFEDD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0487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Paid batches (no choice)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8288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4515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Choice given: Explore or Buy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18288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85432" y="1828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Offer page + trial CTA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" y="22860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4592" y="2286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User Control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31720" y="2286000"/>
            <a:ext cx="2194560" cy="438912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404872" y="2286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Partial, can navigate away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2860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45152" y="2286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Yes, upfront choice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22860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85432" y="2286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Partial, back to home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" y="27432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64592" y="27432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Home Screen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31720" y="2743200"/>
            <a:ext cx="2194560" cy="438912"/>
          </a:xfrm>
          <a:prstGeom prst="rect">
            <a:avLst/>
          </a:prstGeom>
          <a:solidFill>
            <a:srgbClr val="FFEDD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404872" y="27432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Very overwhelming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7432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45152" y="27432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Less cluttered, crisp tabs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12280" y="27432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885432" y="27432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Fewer tabs, confusing names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" y="32004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64592" y="32004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AI Assistant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31720" y="3200400"/>
            <a:ext cx="2194560" cy="438912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404872" y="32004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✓ Exists, good intro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32004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45152" y="32004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Not available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12280" y="32004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85432" y="32004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✓ Exists, broken UI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1440" y="36576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64592" y="3657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Context-Aware AI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31720" y="3657600"/>
            <a:ext cx="2194560" cy="438912"/>
          </a:xfrm>
          <a:prstGeom prst="rect">
            <a:avLst/>
          </a:prstGeom>
          <a:solidFill>
            <a:srgbClr val="FFEDD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404872" y="3657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Answers out of context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36576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645152" y="3657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N/A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12280" y="36576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885432" y="36576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Same problem as PW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1440" y="41148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64592" y="4114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Trial Option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31720" y="4114800"/>
            <a:ext cx="2194560" cy="438912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404872" y="4114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Not available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0" y="41148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645152" y="4114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Not available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12280" y="4114800"/>
            <a:ext cx="21945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885432" y="41148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✓ 1-2 day trial offered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1440" y="45720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164592" y="4572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447"/>
                </a:solidFill>
              </a:rPr>
              <a:t>Profile Edit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331720" y="4572000"/>
            <a:ext cx="2194560" cy="438912"/>
          </a:xfrm>
          <a:prstGeom prst="rect">
            <a:avLst/>
          </a:prstGeom>
          <a:solidFill>
            <a:srgbClr val="FFEDD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04872" y="4572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✗ Wrong Gender Icon/No edit option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0" y="45720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645152" y="4572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By Default user Icon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12280" y="4572000"/>
            <a:ext cx="2194560" cy="438912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5" name="Text 73"/>
          <p:cNvSpPr/>
          <p:nvPr/>
        </p:nvSpPr>
        <p:spPr>
          <a:xfrm>
            <a:off x="6885432" y="457200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Icon selected as per first alphabet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KEY COMPETITIVE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605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605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93192" y="1060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PW's AI is a real differentiator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Neither Unacademy nor Testbook has a properly working AI assistant. PW has one  AND it introduces it well. This is PW's biggest competitive advantage right now.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9376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73752" y="1060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Nobody has solved context-aware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All three apps answer out-of-context questions without checking intent first. This is a market-wide gap. Whoever fixes it first wins the AI PM race in EdTech India.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926080"/>
            <a:ext cx="41605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6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4160520" cy="4114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3192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Unacademy wins on information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3474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Unacademy gives users a choice on first screen (Explore vs Buy). PW dumps you into paid batches. One small UX decision makes Unacademy feel more respectful of user intent.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605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C64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60520" cy="411480"/>
          </a:xfrm>
          <a:prstGeom prst="rect">
            <a:avLst/>
          </a:prstGeom>
          <a:solidFill>
            <a:srgbClr val="0C6478"/>
          </a:solidFill>
          <a:ln w="12700">
            <a:solidFill>
              <a:srgbClr val="0C64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73752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Testbook wins on trial strategy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3474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1-2 day free trial is smart low-friction conversion. Neither PW nor Unacademy offers this. Stealing this strategy reduces PW's conversion friction significantly.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0624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376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548640" cy="45720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033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376D"/>
                </a:solidFill>
              </a:rPr>
              <a:t>Context-Aware Study Switch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72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Problem: AI answers out-of-context questions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When user asks about a different exam, AI first confirms intent, offers to switch context, asks reason, answers, then offers to return to original session.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📈 AI session depth ↑, answer relevance ↑, D7 retention 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4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548640" cy="4572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033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7"/>
                </a:solidFill>
              </a:rPr>
              <a:t>Guided First Screen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72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Problem: Users land on paid batches immediately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7647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Show a choice screen after login: 'Continue studying' vs 'Explore courses'. Mirror Unacademy's approach but with PW's stronger personalization context.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📈 D1 drop-off ↓, paid conversion quality 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971800"/>
            <a:ext cx="420624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6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548640" cy="45720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8288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0449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</a:rPr>
              <a:t>Simplified Home Architecture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Problem: Overwhelming home screen with no clear path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7764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Reduce primary tabs to 3: Study, Tests, Ask AI. Move secondary content behind 'More'. Give every user a 'Today's Plan' card at the top.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📈 Time-to-first-action ↓, session depth 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420624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C64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548640" cy="457200"/>
          </a:xfrm>
          <a:prstGeom prst="rect">
            <a:avLst/>
          </a:prstGeom>
          <a:solidFill>
            <a:srgbClr val="0C6478"/>
          </a:solidFill>
          <a:ln w="12700">
            <a:solidFill>
              <a:srgbClr val="0C64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30449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6478"/>
                </a:solidFill>
              </a:rPr>
              <a:t>Free Trial Option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Problem: No way to taste PW before buying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7764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Offer 2-day full-access trial for first-time users. Gate it behind phone number. Show trial countdown clearly. Auto-nudge on day 2 for conversion.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📈 Paid conversion rate ↑, acquisition quality ↑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PRIORITIZATION  —  RICE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" y="960120"/>
            <a:ext cx="237744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37160" y="96012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87168" y="960120"/>
            <a:ext cx="109728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32888" y="9601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Reach (1-10)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02736" y="960120"/>
            <a:ext cx="100584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48456" y="96012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 (1-5)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18872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72584" y="96012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Confidence (%)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33872" y="960120"/>
            <a:ext cx="100584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79592" y="96012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Effort (1-5)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960120"/>
            <a:ext cx="109728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03720" y="9601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RICE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73568" y="960120"/>
            <a:ext cx="822960" cy="4114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19288" y="96012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" y="1408176"/>
            <a:ext cx="237744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37160" y="140817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447"/>
                </a:solidFill>
              </a:rPr>
              <a:t>Context-Aware AI (S1)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87168" y="1408176"/>
            <a:ext cx="1097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32888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02736" y="1408176"/>
            <a:ext cx="10058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48456" y="140817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26864" y="1408176"/>
            <a:ext cx="11887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72584" y="140817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85%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33872" y="1408176"/>
            <a:ext cx="10058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79592" y="140817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1408176"/>
            <a:ext cx="109728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903720" y="140817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76D"/>
                </a:solidFill>
              </a:rPr>
              <a:t>11.3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73568" y="1408176"/>
            <a:ext cx="822960" cy="566928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19288" y="140817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</a:rPr>
              <a:t>#1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" y="2002536"/>
            <a:ext cx="2377440" cy="566928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37160" y="200253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447"/>
                </a:solidFill>
              </a:rPr>
              <a:t>Guided First Screen (S2)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87168" y="2002536"/>
            <a:ext cx="109728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532888" y="200253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02736" y="2002536"/>
            <a:ext cx="100584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48456" y="200253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26864" y="2002536"/>
            <a:ext cx="118872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72584" y="200253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70%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33872" y="2002536"/>
            <a:ext cx="100584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879592" y="200253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2002536"/>
            <a:ext cx="109728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Text 41"/>
          <p:cNvSpPr/>
          <p:nvPr/>
        </p:nvSpPr>
        <p:spPr>
          <a:xfrm>
            <a:off x="6903720" y="200253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76D"/>
                </a:solidFill>
              </a:rPr>
              <a:t>11.2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973568" y="2002536"/>
            <a:ext cx="82296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19288" y="200253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</a:rPr>
              <a:t>#2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440" y="2596896"/>
            <a:ext cx="237744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37160" y="259689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447"/>
                </a:solidFill>
              </a:rPr>
              <a:t>Simplified Home (S3)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87168" y="2596896"/>
            <a:ext cx="1097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532888" y="259689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9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02736" y="2596896"/>
            <a:ext cx="10058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648456" y="259689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26864" y="2596896"/>
            <a:ext cx="11887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672584" y="259689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75%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33872" y="2596896"/>
            <a:ext cx="10058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879592" y="259689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0" y="2596896"/>
            <a:ext cx="109728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903720" y="259689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76D"/>
                </a:solidFill>
              </a:rPr>
              <a:t>9.0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973568" y="2596896"/>
            <a:ext cx="82296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019288" y="259689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</a:rPr>
              <a:t>#3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1440" y="3191256"/>
            <a:ext cx="2377440" cy="566928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37160" y="319125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447"/>
                </a:solidFill>
              </a:rPr>
              <a:t>Free Trial (S4)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487168" y="3191256"/>
            <a:ext cx="109728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532888" y="319125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7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02736" y="3191256"/>
            <a:ext cx="100584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648456" y="319125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26864" y="3191256"/>
            <a:ext cx="118872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672584" y="3191256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70%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833872" y="3191256"/>
            <a:ext cx="100584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879592" y="319125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858000" y="3191256"/>
            <a:ext cx="109728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903720" y="3191256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76D"/>
                </a:solidFill>
              </a:rPr>
              <a:t>7.35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973568" y="3191256"/>
            <a:ext cx="822960" cy="566928"/>
          </a:xfrm>
          <a:prstGeom prst="rect">
            <a:avLst/>
          </a:prstGeom>
          <a:solidFill>
            <a:srgbClr val="F0F4F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8019288" y="319125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</a:rPr>
              <a:t>#4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1440" y="3840480"/>
            <a:ext cx="8961120" cy="1097280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7432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6A34A"/>
                </a:solidFill>
              </a:rPr>
              <a:t>MoSCoW FRAMEWORK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MUST:  </a:t>
            </a:r>
            <a:r>
              <a:rPr lang="en-US" sz="1100" dirty="0">
                <a:solidFill>
                  <a:srgbClr val="374151"/>
                </a:solidFill>
              </a:rPr>
              <a:t>Context-Aware AI (S1)   </a:t>
            </a:r>
            <a:r>
              <a:rPr lang="en-US" sz="1100" b="1" dirty="0">
                <a:solidFill>
                  <a:srgbClr val="E8560A"/>
                </a:solidFill>
              </a:rPr>
              <a:t>SHOULD:  </a:t>
            </a:r>
            <a:r>
              <a:rPr lang="en-US" sz="1100" dirty="0">
                <a:solidFill>
                  <a:srgbClr val="374151"/>
                </a:solidFill>
              </a:rPr>
              <a:t>Guided First Screen (S2)   </a:t>
            </a:r>
            <a:r>
              <a:rPr lang="en-US" sz="1100" b="1" dirty="0">
                <a:solidFill>
                  <a:srgbClr val="19376D"/>
                </a:solidFill>
              </a:rPr>
              <a:t>COULD:  </a:t>
            </a:r>
            <a:r>
              <a:rPr lang="en-US" sz="1100" dirty="0">
                <a:solidFill>
                  <a:srgbClr val="374151"/>
                </a:solidFill>
              </a:rPr>
              <a:t>Simplified Home (S3)   </a:t>
            </a:r>
            <a:r>
              <a:rPr lang="en-US" sz="1100" b="1" dirty="0">
                <a:solidFill>
                  <a:srgbClr val="64748B"/>
                </a:solidFill>
              </a:rPr>
              <a:t>WON'T (now):  </a:t>
            </a:r>
            <a:r>
              <a:rPr lang="en-US" sz="1100" dirty="0">
                <a:solidFill>
                  <a:srgbClr val="374151"/>
                </a:solidFill>
              </a:rPr>
              <a:t>Free Trial (S4) — needs business model alignment first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NORTH STAR METRIC  +  OKRs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8778240" cy="10058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</a:rPr>
              <a:t>NORTH STAR METRIC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Daily Active Learners completing at least one full study session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103120"/>
            <a:ext cx="8778240" cy="1325880"/>
          </a:xfrm>
          <a:prstGeom prst="rect">
            <a:avLst/>
          </a:prstGeom>
          <a:solidFill>
            <a:srgbClr val="EFF6FF"/>
          </a:solidFill>
          <a:ln w="1905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2194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376D"/>
                </a:solidFill>
              </a:rPr>
              <a:t>O1: Improve first-session retention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 KR1.1: Increase D1 retention from X% to X+15% within 90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 KR1.2: Reduce time-to-first-study-action from X mins to under 2 mins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7238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 KR1.3: Increase % of new users who reach 'Explore' tab within first session by 40%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520440"/>
            <a:ext cx="8778240" cy="1325880"/>
          </a:xfrm>
          <a:prstGeom prst="rect">
            <a:avLst/>
          </a:prstGeom>
          <a:solidFill>
            <a:srgbClr val="FFF7ED"/>
          </a:solidFill>
          <a:ln w="19050">
            <a:solidFill>
              <a:srgbClr val="E85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3611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</a:rPr>
              <a:t>O2: Make AI assistant the #1 reason users stay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 KR2.1: Increase avg AI session depth (messages per session) by 60%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23367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 KR2.2: Achieve 80%+ answer relevance rate (thumbs up signal) for AI responses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897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→  KR2.3: Users who engage with AI retain at 2x rate vs non-AI users (D30)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4532" y="1854234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51422" y="2696117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BD5E1"/>
                </a:solidFill>
              </a:rPr>
              <a:t>Physics Wallah has the reach, the affordability, and now the AI.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CBD5E1"/>
                </a:solidFill>
              </a:rPr>
              <a:t>The only thing missing is using what it already knows about the user.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50E2B7-1D1C-8A68-CBCD-F6CDA2098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763" y="582169"/>
            <a:ext cx="1294473" cy="11776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1423</Words>
  <Application>Microsoft Office PowerPoint</Application>
  <PresentationFormat>On-screen Show (16:9)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Wallah Product Teardown</dc:title>
  <dc:subject>PptxGenJS Presentation</dc:subject>
  <dc:creator>Shivangi Pandita</dc:creator>
  <cp:lastModifiedBy>Shivangi Pandita</cp:lastModifiedBy>
  <cp:revision>3</cp:revision>
  <dcterms:created xsi:type="dcterms:W3CDTF">2026-05-20T15:13:17Z</dcterms:created>
  <dcterms:modified xsi:type="dcterms:W3CDTF">2026-05-20T17:19:06Z</dcterms:modified>
</cp:coreProperties>
</file>